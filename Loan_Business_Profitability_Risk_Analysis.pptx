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220">
                <a:solidFill>
                  <a:srgbClr val="6FB8C2"/>
                </a:solidFill>
                <a:latin typeface="Calibri"/>
              </a:rPr>
              <a:t>LOAN PORTFOLIO PROFITABILITY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41732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 i="0" dirty="0">
                <a:solidFill>
                  <a:srgbClr val="FFFFFF"/>
                </a:solidFill>
                <a:latin typeface="Cambria"/>
              </a:rPr>
              <a:t>From Portfolio Loss</a:t>
            </a:r>
          </a:p>
          <a:p>
            <a:pPr algn="l">
              <a:lnSpc>
                <a:spcPct val="104000"/>
              </a:lnSpc>
            </a:pPr>
            <a:r>
              <a:rPr sz="4200" b="1" i="0" dirty="0">
                <a:solidFill>
                  <a:srgbClr val="FFFFFF"/>
                </a:solidFill>
                <a:latin typeface="Cambria"/>
              </a:rPr>
              <a:t>to Management 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528" y="3364992"/>
            <a:ext cx="1371600" cy="0"/>
          </a:xfrm>
          <a:prstGeom prst="line">
            <a:avLst/>
          </a:prstGeom>
          <a:ln w="31750">
            <a:solidFill>
              <a:srgbClr val="1F7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611880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DDE5EB"/>
                </a:solidFill>
                <a:latin typeface="Calibri"/>
              </a:rPr>
              <a:t>A business-focused analysis of pricing, tenure, product mix,</a:t>
            </a:r>
          </a:p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DDE5EB"/>
                </a:solidFill>
                <a:latin typeface="Calibri"/>
              </a:rPr>
              <a:t>regional performance and loan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FBCC8"/>
                </a:solidFill>
                <a:latin typeface="Calibri"/>
              </a:rPr>
              <a:t>Advanced Excel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08192"/>
            <a:ext cx="4572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AFBCC8"/>
                </a:solidFill>
                <a:latin typeface="Calibri"/>
              </a:rPr>
              <a:t>Tufan Bera  </a:t>
            </a:r>
            <a:r>
              <a:rPr lang="en-IN" sz="1050" b="0" i="0" dirty="0">
                <a:solidFill>
                  <a:srgbClr val="AFBCC8"/>
                </a:solidFill>
                <a:latin typeface="Calibri"/>
              </a:rPr>
              <a:t>, Spriha Sahu , Sumit Singh</a:t>
            </a:r>
            <a:endParaRPr sz="1050" b="0" i="0" dirty="0">
              <a:solidFill>
                <a:srgbClr val="AFBCC8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66760" y="1371600"/>
            <a:ext cx="3246120" cy="4160520"/>
          </a:xfrm>
          <a:prstGeom prst="roundRect">
            <a:avLst>
              <a:gd name="adj" fmla="val 5500"/>
            </a:avLst>
          </a:prstGeom>
          <a:solidFill>
            <a:srgbClr val="1F354F"/>
          </a:solidFill>
          <a:ln w="15875">
            <a:solidFill>
              <a:srgbClr val="1F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8" y="1627632"/>
            <a:ext cx="26609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30">
                <a:solidFill>
                  <a:srgbClr val="9DBECD"/>
                </a:solidFill>
                <a:latin typeface="Calibri"/>
              </a:rPr>
              <a:t>PORTFOLIO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938528"/>
            <a:ext cx="266090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D96C5A"/>
                </a:solidFill>
                <a:latin typeface="Cambria"/>
              </a:rPr>
              <a:t>−₹36.05L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578608"/>
            <a:ext cx="26609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AFBCC8"/>
                </a:solidFill>
                <a:latin typeface="Calibri"/>
              </a:rPr>
              <a:t>Net Bank Profit — loss-making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8" y="2999232"/>
            <a:ext cx="2660904" cy="0"/>
          </a:xfrm>
          <a:prstGeom prst="line">
            <a:avLst/>
          </a:prstGeom>
          <a:ln w="9525">
            <a:solidFill>
              <a:srgbClr val="334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59368" y="3182112"/>
            <a:ext cx="266090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−2.83%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3730752"/>
            <a:ext cx="26609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AFBCC8"/>
                </a:solidFill>
                <a:latin typeface="Calibri"/>
              </a:rPr>
              <a:t>Profit margin on the loan book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4133087"/>
            <a:ext cx="2660904" cy="0"/>
          </a:xfrm>
          <a:prstGeom prst="line">
            <a:avLst/>
          </a:prstGeom>
          <a:ln w="9525">
            <a:solidFill>
              <a:srgbClr val="334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59368" y="4297680"/>
            <a:ext cx="26609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FB8C2"/>
                </a:solidFill>
                <a:latin typeface="Calibri"/>
              </a:rPr>
              <a:t>500 LOANS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4617720"/>
            <a:ext cx="26609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AFBCC8"/>
                </a:solidFill>
                <a:latin typeface="Calibri"/>
              </a:rPr>
              <a:t>₹12.74 Cr principal deployed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4937760"/>
            <a:ext cx="26609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AFBCC8"/>
                </a:solidFill>
                <a:latin typeface="Calibri"/>
              </a:rPr>
              <a:t>across Car, Bike, Laptop &amp;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The portfolio has a clear profitability problem — and a clear place to 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9659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63039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TOTAL LOANS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3263F"/>
                </a:solidFill>
                <a:latin typeface="Aptos"/>
              </a:rPr>
              <a:t>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25880"/>
            <a:ext cx="19659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1463039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LOAN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1755648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3263F"/>
                </a:solidFill>
                <a:latin typeface="Aptos"/>
              </a:rPr>
              <a:t>₹12.74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325880"/>
            <a:ext cx="19659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5192" y="1463039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TOTAL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755648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3263F"/>
                </a:solidFill>
                <a:latin typeface="Aptos"/>
              </a:rPr>
              <a:t>₹3.32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325880"/>
            <a:ext cx="19659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1463039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TOTAL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755648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3E3E"/>
                </a:solidFill>
                <a:latin typeface="Aptos"/>
              </a:rPr>
              <a:t>₹3.68 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325880"/>
            <a:ext cx="19659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71432" y="1463039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NET BANK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755648"/>
            <a:ext cx="1636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3E3E"/>
                </a:solidFill>
                <a:latin typeface="Aptos"/>
              </a:rPr>
              <a:t>−₹36.05 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88920"/>
            <a:ext cx="3474720" cy="233172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THE BUSINESS 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6440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Revenue is not covering total portfolio cost. The current economics mean that adding more loans is not automatically value-creating.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2788920"/>
            <a:ext cx="3474720" cy="2331720"/>
          </a:xfrm>
          <a:prstGeom prst="roundRect">
            <a:avLst/>
          </a:prstGeom>
          <a:solidFill>
            <a:srgbClr val="F3F6F9"/>
          </a:solidFill>
          <a:ln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63F"/>
                </a:solidFill>
                <a:latin typeface="Aptos"/>
              </a:rPr>
              <a:t>WHERE THE LOSS SITS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6440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Car loans account for the dominant product loss, with the problem concentrated in lower-rate and longer-tenure lending.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788920"/>
            <a:ext cx="3474720" cy="233172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2916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WHAT MANAGEMENT SHOULD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6440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Fix Car-loan economics first: pricing, tenure and exposure controls. Protect products that are already profitable.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dirty="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Portfolio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The gap between income and cost is the first management problem to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24028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63039"/>
            <a:ext cx="1911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5564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782"/>
                </a:solidFill>
                <a:latin typeface="Aptos"/>
              </a:rPr>
              <a:t>₹3.32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21991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26F7D"/>
                </a:solidFill>
                <a:latin typeface="Aptos"/>
              </a:rPr>
              <a:t>Interest income + processing fee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25880"/>
            <a:ext cx="224028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463039"/>
            <a:ext cx="1911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COST OF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75564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3E3E"/>
                </a:solidFill>
                <a:latin typeface="Aptos"/>
              </a:rPr>
              <a:t>₹3.52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221991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26F7D"/>
                </a:solidFill>
                <a:latin typeface="Aptos"/>
              </a:rPr>
              <a:t>Funding cost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325880"/>
            <a:ext cx="224028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1463039"/>
            <a:ext cx="1911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DEFAULT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175564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3E3E"/>
                </a:solidFill>
                <a:latin typeface="Aptos"/>
              </a:rPr>
              <a:t>₹15.86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221991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26F7D"/>
                </a:solidFill>
                <a:latin typeface="Aptos"/>
              </a:rPr>
              <a:t>Additional credit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325880"/>
            <a:ext cx="224028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2" y="1463039"/>
            <a:ext cx="1911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F7D"/>
                </a:solidFill>
                <a:latin typeface="Aptos"/>
              </a:rPr>
              <a:t>PROFIT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75564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73E3E"/>
                </a:solidFill>
                <a:latin typeface="Aptos"/>
              </a:rPr>
              <a:t>−2.83%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221991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26F7D"/>
                </a:solidFill>
                <a:latin typeface="Aptos"/>
              </a:rPr>
              <a:t>Net profit /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7782"/>
                </a:solidFill>
                <a:latin typeface="Aptos"/>
              </a:rPr>
              <a:t>₹3.32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64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26F7D"/>
                </a:solidFill>
                <a:latin typeface="Aptos"/>
              </a:rPr>
              <a:t>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73E3E"/>
                </a:solidFill>
                <a:latin typeface="Aptos"/>
              </a:rPr>
              <a:t>− ₹3.68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364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26F7D"/>
                </a:solidFill>
                <a:latin typeface="Aptos"/>
              </a:rPr>
              <a:t>Total cost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263640" y="2944368"/>
            <a:ext cx="914400" cy="502920"/>
          </a:xfrm>
          <a:prstGeom prst="rightArrow">
            <a:avLst/>
          </a:prstGeom>
          <a:solidFill>
            <a:srgbClr val="BEC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281635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73E3E"/>
                </a:solidFill>
                <a:latin typeface="Aptos"/>
              </a:rPr>
              <a:t>− ₹36.05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26F7D"/>
                </a:solidFill>
                <a:latin typeface="Aptos"/>
              </a:rPr>
              <a:t>Net bank loss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102870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379976"/>
            <a:ext cx="9921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63F"/>
                </a:solidFill>
                <a:latin typeface="Aptos"/>
              </a:rPr>
              <a:t>BUSINESS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27448"/>
            <a:ext cx="9921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Default recovery matters, but it cannot solve the core issue by itself. Funding cost is already above revenue, so management must improve loan-level economics through pricing and portfolio mix.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Product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The portfolio is not uniformly weak — one segment is driving the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4</a:t>
            </a:r>
          </a:p>
        </p:txBody>
      </p:sp>
      <p:pic>
        <p:nvPicPr>
          <p:cNvPr id="7" name="Picture 6" descr="produc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922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41732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54533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PRIMARY LOSS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928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Car: −₹37.41 lakh. It is large enough to erase the gains from Laptop and Bike.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3464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2F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96265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7D54"/>
                </a:solidFill>
                <a:latin typeface="Aptos"/>
              </a:rPr>
              <a:t>PROFITABLE POCKETS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1012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Laptop: +₹1.64 lakh
Bike: +₹0.46 lakh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25196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3799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2744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Do not apply a portfolio-wide restriction. Review Car separately and preserve the economics of profitable products.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Pricing Is a Core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Lower-rate lending is where the economics deteriorate fastest.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5</a:t>
            </a:r>
          </a:p>
        </p:txBody>
      </p:sp>
      <p:pic>
        <p:nvPicPr>
          <p:cNvPr id="7" name="Picture 6" descr="rat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008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371600"/>
            <a:ext cx="388620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14996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LOW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47088"/>
            <a:ext cx="3520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−₹26.69 lakh
Largest rate-segment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880360"/>
            <a:ext cx="388620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300837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MEDIUM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355848"/>
            <a:ext cx="3520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−₹11.85 lakh
Still below an acceptable return.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389120"/>
            <a:ext cx="38862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45171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MANAGEMENT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864608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Introduce a pricing floor based on funding cost and expected loss — not a blanket rate increase.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Pinpointing the Pricing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The rate issue is concentrated — especially inside Car lending.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6</a:t>
            </a:r>
          </a:p>
        </p:txBody>
      </p:sp>
      <p:pic>
        <p:nvPicPr>
          <p:cNvPr id="7" name="Picture 6" descr="produ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99516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59" y="1453895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CAR + LOW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180136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−₹26.69 lakh
Largest product-rate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59" y="291693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CAR + MEDIUM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326440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−₹10.72 lakh
Second major loss pocket.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25196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59" y="437997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472744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Target Car pricing and approval rules first. Avoid unnecessary repricing of products already generating positive returns.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Tenure Is Amplifying the Car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Longer duration is particularly damaging when pricing is not high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7</a:t>
            </a:r>
          </a:p>
        </p:txBody>
      </p:sp>
      <p:pic>
        <p:nvPicPr>
          <p:cNvPr id="7" name="Picture 6" descr="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99516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59" y="1453895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CAR + LONG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180136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−₹33.82 lakh
Dominant tenure-related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59" y="291693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63F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326440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Longer tenure keeps capital committed longer. If the rate does not compensate for funding and risk, return is diluted.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251960"/>
            <a:ext cx="3520440" cy="128016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59" y="437997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4727448"/>
            <a:ext cx="31546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Review maximum Car tenure or apply additional pricing to longer-term loans.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The Loss Is Not a Single-Region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Every region is loss-making; geography alone is not the root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8</a:t>
            </a:r>
          </a:p>
        </p:txBody>
      </p:sp>
      <p:pic>
        <p:nvPicPr>
          <p:cNvPr id="7" name="Picture 6" descr="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922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37160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LARGEST REGIONAL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4708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East: −₹11.72 lakh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78892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91693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63F"/>
                </a:solidFill>
                <a:latin typeface="Aptos"/>
              </a:rPr>
              <a:t>WHAT NOT TO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26440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Do not simply withdraw from the weakest region. That could remove volume without fixing the economics.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206240"/>
            <a:ext cx="379476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3342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BETTER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681727"/>
            <a:ext cx="34290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Break each region down by product, rate and tenure before changing geographic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Regional chart represents Net Bank Profit/Loss by Region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Exposure Concentration Adds Another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Very-large loans are creating a disproportionate share of the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9</a:t>
            </a:r>
          </a:p>
        </p:txBody>
      </p:sp>
      <p:pic>
        <p:nvPicPr>
          <p:cNvPr id="7" name="Picture 6" descr="loan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922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371600"/>
            <a:ext cx="3794760" cy="1325880"/>
          </a:xfrm>
          <a:prstGeom prst="roundRect">
            <a:avLst/>
          </a:prstGeom>
          <a:solidFill>
            <a:srgbClr val="F3F6F9"/>
          </a:solidFill>
          <a:ln>
            <a:solidFill>
              <a:srgbClr val="B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3E3E"/>
                </a:solidFill>
                <a:latin typeface="Aptos"/>
              </a:rPr>
              <a:t>VERY-LARGE EXPOSURES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47088"/>
            <a:ext cx="34290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−₹33.88 lakh across 100 loans.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26080"/>
            <a:ext cx="379476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5409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263F"/>
                </a:solidFill>
                <a:latin typeface="Aptos"/>
              </a:rPr>
              <a:t>BUSINESS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A small number of large exposures can create concentrated downside when pricing or credit assumptions are weak.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343400"/>
            <a:ext cx="3794760" cy="1188720"/>
          </a:xfrm>
          <a:prstGeom prst="roundRect">
            <a:avLst/>
          </a:prstGeom>
          <a:solidFill>
            <a:srgbClr val="F3F6F9"/>
          </a:solidFill>
          <a:ln>
            <a:solidFill>
              <a:srgbClr val="1F7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4714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82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81888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0262D"/>
                </a:solidFill>
                <a:latin typeface="Aptos"/>
              </a:rPr>
              <a:t>Use stronger approval, exposure limits and expected-return checks for very-large loans.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3263F"/>
                </a:solidFill>
                <a:latin typeface="Aptos Display"/>
              </a:rPr>
              <a:t>Management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26F7D"/>
                </a:solidFill>
                <a:latin typeface="Aptos"/>
              </a:rPr>
              <a:t>Prioritise changes that improve unit economics without damaging healthy segments.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F7D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1673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Fix Car-loan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1673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Review pricing, tenure, loan size, funding cost and expected loss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3167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14884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3969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Set a pricing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3969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Approve low-rate loans only when expected return remains economically viable.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21396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97180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99923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96265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Control long-term Car lending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96265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Shorten maximum tenure or add risk/tenure-based pricing.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79476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221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78561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Control large exposures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8561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Strengthen approval and exposure limits where loss concentration is high.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7856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64515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60857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Protect profitable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60857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Laptop and Bike are positive contributors; pursue controlled growth.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4608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5440680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46811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31536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263F"/>
                </a:solidFill>
                <a:latin typeface="Aptos"/>
              </a:rPr>
              <a:t>Review regional mix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543153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0262D"/>
                </a:solidFill>
                <a:latin typeface="Aptos"/>
              </a:rPr>
              <a:t>Start with East, but diagnose product/rate/tenure mix before changing geography.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431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26F7D"/>
                </a:solidFill>
                <a:latin typeface="Aptos"/>
              </a:rPr>
              <a:t>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473952"/>
            <a:ext cx="11018520" cy="914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501384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6F7D"/>
                </a:solidFill>
                <a:latin typeface="Aptos"/>
              </a:rPr>
              <a:t>Source: Loan Business Profitability Analysis | Advanced Excel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3840480" y="-4114800"/>
            <a:ext cx="5303520" cy="5303520"/>
          </a:xfrm>
          <a:prstGeom prst="ellipse">
            <a:avLst/>
          </a:prstGeom>
          <a:solidFill>
            <a:srgbClr val="18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566159"/>
            <a:ext cx="4937760" cy="4937760"/>
          </a:xfrm>
          <a:prstGeom prst="ellipse">
            <a:avLst/>
          </a:prstGeom>
          <a:solidFill>
            <a:srgbClr val="18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3749039"/>
            <a:ext cx="2743200" cy="2743200"/>
          </a:xfrm>
          <a:prstGeom prst="ellipse">
            <a:avLst/>
          </a:prstGeom>
          <a:solidFill>
            <a:srgbClr val="1B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220">
                <a:solidFill>
                  <a:srgbClr val="6FB8C2"/>
                </a:solidFill>
                <a:latin typeface="Calibri"/>
              </a:rPr>
              <a:t>THE MANAGEMENT MESSAGE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5528" y="914400"/>
            <a:ext cx="1371600" cy="0"/>
          </a:xfrm>
          <a:prstGeom prst="line">
            <a:avLst/>
          </a:prstGeom>
          <a:ln w="31750">
            <a:solidFill>
              <a:srgbClr val="1F77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" y="1097280"/>
            <a:ext cx="1060704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Loan growth is not the objective.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6FB8C2"/>
                </a:solidFill>
                <a:latin typeface="Cambria"/>
              </a:rPr>
              <a:t>Profitable loan growth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DDE5EB"/>
                </a:solidFill>
                <a:latin typeface="Calibri"/>
              </a:rPr>
              <a:t>The analysis points to one practical starting point: fix the economics of Car loans — especially lower-rate, longer-tenure lending — while protecting profitable segments.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3310128" cy="1481328"/>
          </a:xfrm>
          <a:prstGeom prst="roundRect">
            <a:avLst>
              <a:gd name="adj" fmla="val 7500"/>
            </a:avLst>
          </a:prstGeom>
          <a:solidFill>
            <a:srgbClr val="1F354F"/>
          </a:solidFill>
          <a:ln w="15875">
            <a:solidFill>
              <a:srgbClr val="1F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6695" y="4197096"/>
            <a:ext cx="420624" cy="420624"/>
          </a:xfrm>
          <a:prstGeom prst="ellipse">
            <a:avLst/>
          </a:prstGeom>
          <a:solidFill>
            <a:srgbClr val="1F7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42336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10">
                <a:solidFill>
                  <a:srgbClr val="9DBECD"/>
                </a:solidFill>
                <a:latin typeface="Calibri"/>
              </a:rPr>
              <a:t>START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4581144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Car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5001768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BCC8"/>
                </a:solidFill>
                <a:latin typeface="Calibri"/>
              </a:rPr>
              <a:t>Rate, tenure &amp; loan-size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977639"/>
            <a:ext cx="3310128" cy="1481328"/>
          </a:xfrm>
          <a:prstGeom prst="roundRect">
            <a:avLst>
              <a:gd name="adj" fmla="val 7500"/>
            </a:avLst>
          </a:prstGeom>
          <a:solidFill>
            <a:srgbClr val="1F354F"/>
          </a:solidFill>
          <a:ln w="15875">
            <a:solidFill>
              <a:srgbClr val="BD91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2856" y="4197096"/>
            <a:ext cx="420624" cy="420624"/>
          </a:xfrm>
          <a:prstGeom prst="ellipse">
            <a:avLst/>
          </a:prstGeom>
          <a:solidFill>
            <a:srgbClr val="BD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42336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10">
                <a:solidFill>
                  <a:srgbClr val="9DBECD"/>
                </a:solidFill>
                <a:latin typeface="Calibri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581144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Pricing + Tenure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5001768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BCC8"/>
                </a:solidFill>
                <a:latin typeface="Calibri"/>
              </a:rPr>
              <a:t>Set a practical minimum floor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977639"/>
            <a:ext cx="3310128" cy="1481328"/>
          </a:xfrm>
          <a:prstGeom prst="roundRect">
            <a:avLst>
              <a:gd name="adj" fmla="val 7500"/>
            </a:avLst>
          </a:prstGeom>
          <a:solidFill>
            <a:srgbClr val="1F354F"/>
          </a:solidFill>
          <a:ln w="15875">
            <a:solidFill>
              <a:srgbClr val="2F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29016" y="4197096"/>
            <a:ext cx="420624" cy="420624"/>
          </a:xfrm>
          <a:prstGeom prst="ellipse">
            <a:avLst/>
          </a:prstGeom>
          <a:solidFill>
            <a:srgbClr val="2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42336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10">
                <a:solidFill>
                  <a:srgbClr val="9DBECD"/>
                </a:solidFill>
                <a:latin typeface="Calibri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4581144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Profitable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5001768"/>
            <a:ext cx="28712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BCC8"/>
                </a:solidFill>
                <a:latin typeface="Calibri"/>
              </a:rPr>
              <a:t>Grow Laptop &amp; Bike carefully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053328"/>
            <a:ext cx="10634472" cy="0"/>
          </a:xfrm>
          <a:prstGeom prst="line">
            <a:avLst/>
          </a:prstGeom>
          <a:ln w="9525">
            <a:solidFill>
              <a:srgbClr val="2A3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1996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DBECD"/>
                </a:solidFill>
                <a:latin typeface="Calibri"/>
              </a:rPr>
              <a:t>Loan Business Profitability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199632"/>
            <a:ext cx="5376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DBECD"/>
                </a:solidFill>
                <a:latin typeface="Calibri"/>
              </a:rPr>
              <a:t>Tufan Bera   |   Advanced Excel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973</Words>
  <Application>Microsoft Office PowerPoint</Application>
  <PresentationFormat>Widescreen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Tufan Bera</cp:lastModifiedBy>
  <cp:revision>2</cp:revision>
  <dcterms:created xsi:type="dcterms:W3CDTF">2013-01-27T09:14:16Z</dcterms:created>
  <dcterms:modified xsi:type="dcterms:W3CDTF">2026-08-30T18:21:21Z</dcterms:modified>
  <cp:category/>
</cp:coreProperties>
</file>