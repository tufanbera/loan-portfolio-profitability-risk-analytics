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868680"/>
            <a:ext cx="7315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220" dirty="0">
                <a:solidFill>
                  <a:srgbClr val="6FB8C2"/>
                </a:solidFill>
                <a:latin typeface="Calibri"/>
              </a:rPr>
              <a:t>LOAN PORTFOLIO PROFITABILITY</a:t>
            </a:r>
            <a:r>
              <a:rPr lang="en-IN" sz="1400" b="1" i="0" spc="220" dirty="0">
                <a:solidFill>
                  <a:srgbClr val="6FB8C2"/>
                </a:solidFill>
                <a:latin typeface="Calibri"/>
              </a:rPr>
              <a:t> AND RISK ANALYSIS</a:t>
            </a:r>
            <a:endParaRPr sz="1400" b="1" i="0" spc="220" dirty="0">
              <a:solidFill>
                <a:srgbClr val="6FB8C2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8952" y="1417320"/>
            <a:ext cx="7315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200" b="1" i="0" dirty="0">
                <a:solidFill>
                  <a:srgbClr val="FFFFFF"/>
                </a:solidFill>
                <a:latin typeface="Cambria"/>
              </a:rPr>
              <a:t>From Portfolio Loss</a:t>
            </a:r>
          </a:p>
          <a:p>
            <a:pPr algn="l">
              <a:lnSpc>
                <a:spcPct val="104000"/>
              </a:lnSpc>
            </a:pPr>
            <a:r>
              <a:rPr sz="4200" b="1" i="0" dirty="0">
                <a:solidFill>
                  <a:srgbClr val="FFFFFF"/>
                </a:solidFill>
                <a:latin typeface="Cambria"/>
              </a:rPr>
              <a:t>to Management Action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5528" y="3364992"/>
            <a:ext cx="1371600" cy="0"/>
          </a:xfrm>
          <a:prstGeom prst="line">
            <a:avLst/>
          </a:prstGeom>
          <a:ln w="31750">
            <a:solidFill>
              <a:srgbClr val="1F77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3611880"/>
            <a:ext cx="69494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DDE5EB"/>
                </a:solidFill>
                <a:latin typeface="Calibri"/>
              </a:rPr>
              <a:t>A business-focused analysis of pricing, tenure, product mix,</a:t>
            </a:r>
          </a:p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DDE5EB"/>
                </a:solidFill>
                <a:latin typeface="Calibri"/>
              </a:rPr>
              <a:t>regional performance and loan exposure.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AFBCC8"/>
                </a:solidFill>
                <a:latin typeface="Calibri"/>
              </a:rPr>
              <a:t>Advanced Excel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08192"/>
            <a:ext cx="4572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AFBCC8"/>
                </a:solidFill>
                <a:latin typeface="Calibri"/>
              </a:rPr>
              <a:t>Tufan Bera  </a:t>
            </a:r>
            <a:r>
              <a:rPr lang="en-IN" sz="1050" b="0" i="0" dirty="0">
                <a:solidFill>
                  <a:srgbClr val="AFBCC8"/>
                </a:solidFill>
                <a:latin typeface="Calibri"/>
              </a:rPr>
              <a:t>, Spriha Sahu , Sumit Singh</a:t>
            </a:r>
            <a:endParaRPr sz="1050" b="0" i="0" dirty="0">
              <a:solidFill>
                <a:srgbClr val="AFBCC8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366760" y="1371600"/>
            <a:ext cx="3246120" cy="4160520"/>
          </a:xfrm>
          <a:prstGeom prst="roundRect">
            <a:avLst>
              <a:gd name="adj" fmla="val 5500"/>
            </a:avLst>
          </a:prstGeom>
          <a:solidFill>
            <a:srgbClr val="1F354F"/>
          </a:solidFill>
          <a:ln w="15875">
            <a:solidFill>
              <a:srgbClr val="1F77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59368" y="1627632"/>
            <a:ext cx="26609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30">
                <a:solidFill>
                  <a:srgbClr val="9DBECD"/>
                </a:solidFill>
                <a:latin typeface="Calibri"/>
              </a:rPr>
              <a:t>PORTFOLIO SNAPSHOT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8" y="1938528"/>
            <a:ext cx="266090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D96C5A"/>
                </a:solidFill>
                <a:latin typeface="Cambria"/>
              </a:rPr>
              <a:t>−₹36.05L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578608"/>
            <a:ext cx="266090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AFBCC8"/>
                </a:solidFill>
                <a:latin typeface="Calibri"/>
              </a:rPr>
              <a:t>Net Bank Profit — loss-making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59368" y="2999232"/>
            <a:ext cx="2660904" cy="0"/>
          </a:xfrm>
          <a:prstGeom prst="line">
            <a:avLst/>
          </a:prstGeom>
          <a:ln w="9525">
            <a:solidFill>
              <a:srgbClr val="334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59368" y="3182112"/>
            <a:ext cx="266090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−2.83%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9368" y="3730752"/>
            <a:ext cx="266090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AFBCC8"/>
                </a:solidFill>
                <a:latin typeface="Calibri"/>
              </a:rPr>
              <a:t>Profit margin on the loan book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59368" y="4133087"/>
            <a:ext cx="2660904" cy="0"/>
          </a:xfrm>
          <a:prstGeom prst="line">
            <a:avLst/>
          </a:prstGeom>
          <a:ln w="9525">
            <a:solidFill>
              <a:srgbClr val="334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659368" y="4297680"/>
            <a:ext cx="26609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6FB8C2"/>
                </a:solidFill>
                <a:latin typeface="Calibri"/>
              </a:rPr>
              <a:t>500 LOANS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9368" y="4617720"/>
            <a:ext cx="266090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AFBCC8"/>
                </a:solidFill>
                <a:latin typeface="Calibri"/>
              </a:rPr>
              <a:t>₹12.74 Cr principal deployed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9368" y="4937760"/>
            <a:ext cx="266090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AFBCC8"/>
                </a:solidFill>
                <a:latin typeface="Calibri"/>
              </a:rPr>
              <a:t>across Car, Bike, Laptop &amp; Mobile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F7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966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3263F"/>
                </a:solidFill>
                <a:latin typeface="Aptos Display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626F7D"/>
                </a:solidFill>
                <a:latin typeface="Aptos"/>
              </a:rPr>
              <a:t>The portfolio has a clear profitability problem — and a clear place to start.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20624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26F7D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1965960" cy="1188720"/>
          </a:xfrm>
          <a:prstGeom prst="roundRect">
            <a:avLst/>
          </a:prstGeom>
          <a:solidFill>
            <a:srgbClr val="F3F6F9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63039"/>
            <a:ext cx="16367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26F7D"/>
                </a:solidFill>
                <a:latin typeface="Aptos"/>
              </a:rPr>
              <a:t>TOTAL LOANS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755648"/>
            <a:ext cx="1636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3263F"/>
                </a:solidFill>
                <a:latin typeface="Aptos"/>
              </a:rPr>
              <a:t>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1325880"/>
            <a:ext cx="1965960" cy="1188720"/>
          </a:xfrm>
          <a:prstGeom prst="roundRect">
            <a:avLst/>
          </a:prstGeom>
          <a:solidFill>
            <a:srgbClr val="F3F6F9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62072" y="1463039"/>
            <a:ext cx="16367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26F7D"/>
                </a:solidFill>
                <a:latin typeface="Aptos"/>
              </a:rPr>
              <a:t>LOAN PRINCIPAL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2072" y="1755648"/>
            <a:ext cx="1636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3263F"/>
                </a:solidFill>
                <a:latin typeface="Aptos"/>
              </a:rPr>
              <a:t>₹12.74 Cr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1325880"/>
            <a:ext cx="1965960" cy="1188720"/>
          </a:xfrm>
          <a:prstGeom prst="roundRect">
            <a:avLst/>
          </a:prstGeom>
          <a:solidFill>
            <a:srgbClr val="F3F6F9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65192" y="1463039"/>
            <a:ext cx="16367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26F7D"/>
                </a:solidFill>
                <a:latin typeface="Aptos"/>
              </a:rPr>
              <a:t>TOTAL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5192" y="1755648"/>
            <a:ext cx="1636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3263F"/>
                </a:solidFill>
                <a:latin typeface="Aptos"/>
              </a:rPr>
              <a:t>₹3.32 Cr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1325880"/>
            <a:ext cx="1965960" cy="1188720"/>
          </a:xfrm>
          <a:prstGeom prst="roundRect">
            <a:avLst/>
          </a:prstGeom>
          <a:solidFill>
            <a:srgbClr val="F3F6F9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68312" y="1463039"/>
            <a:ext cx="16367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26F7D"/>
                </a:solidFill>
                <a:latin typeface="Aptos"/>
              </a:rPr>
              <a:t>TOTAL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8312" y="1755648"/>
            <a:ext cx="1636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73E3E"/>
                </a:solidFill>
                <a:latin typeface="Aptos"/>
              </a:rPr>
              <a:t>₹3.68 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325880"/>
            <a:ext cx="1965960" cy="1188720"/>
          </a:xfrm>
          <a:prstGeom prst="roundRect">
            <a:avLst/>
          </a:prstGeom>
          <a:solidFill>
            <a:srgbClr val="F3F6F9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71432" y="1463039"/>
            <a:ext cx="16367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26F7D"/>
                </a:solidFill>
                <a:latin typeface="Aptos"/>
              </a:rPr>
              <a:t>NET BANK PROFIT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1755648"/>
            <a:ext cx="1636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73E3E"/>
                </a:solidFill>
                <a:latin typeface="Aptos"/>
              </a:rPr>
              <a:t>−₹36.05 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2788920"/>
            <a:ext cx="3474720" cy="2331720"/>
          </a:xfrm>
          <a:prstGeom prst="roundRect">
            <a:avLst/>
          </a:prstGeom>
          <a:solidFill>
            <a:srgbClr val="F3F6F9"/>
          </a:solidFill>
          <a:ln>
            <a:solidFill>
              <a:srgbClr val="B7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29169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73E3E"/>
                </a:solidFill>
                <a:latin typeface="Aptos"/>
              </a:rPr>
              <a:t>THE BUSINESS ISSUE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264408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Revenue is not covering total portfolio cost. The current economics mean that adding more loans is not automatically value-creating.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2788920"/>
            <a:ext cx="3474720" cy="2331720"/>
          </a:xfrm>
          <a:prstGeom prst="roundRect">
            <a:avLst/>
          </a:prstGeom>
          <a:solidFill>
            <a:srgbClr val="F3F6F9"/>
          </a:solidFill>
          <a:ln>
            <a:solidFill>
              <a:srgbClr val="13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29169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3263F"/>
                </a:solidFill>
                <a:latin typeface="Aptos"/>
              </a:rPr>
              <a:t>WHERE THE LOSS SITS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264408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Car loans account for the dominant product loss, with the problem concentrated in lower-rate and longer-tenure lending.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788920"/>
            <a:ext cx="3474720" cy="2331720"/>
          </a:xfrm>
          <a:prstGeom prst="roundRect">
            <a:avLst/>
          </a:prstGeom>
          <a:solidFill>
            <a:srgbClr val="F3F6F9"/>
          </a:solidFill>
          <a:ln>
            <a:solidFill>
              <a:srgbClr val="1F7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92440" y="29169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7782"/>
                </a:solidFill>
                <a:latin typeface="Aptos"/>
              </a:rPr>
              <a:t>WHAT MANAGEMENT SHOULD 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264408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Fix Car-loan economics first: pricing, tenure and exposure controls. Protect products that are already profitable.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473952"/>
            <a:ext cx="11018520" cy="9144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F7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966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3263F"/>
                </a:solidFill>
                <a:latin typeface="Aptos Display"/>
              </a:rPr>
              <a:t>Portfolio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626F7D"/>
                </a:solidFill>
                <a:latin typeface="Aptos"/>
              </a:rPr>
              <a:t>The gap between income and cost is the first management problem to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20624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26F7D"/>
                </a:solidFill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24028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1" y="1463039"/>
            <a:ext cx="19110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26F7D"/>
                </a:solidFill>
                <a:latin typeface="Aptos"/>
              </a:rPr>
              <a:t>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1755648"/>
            <a:ext cx="19110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782"/>
                </a:solidFill>
                <a:latin typeface="Aptos"/>
              </a:rPr>
              <a:t>₹3.32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221991"/>
            <a:ext cx="1911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26F7D"/>
                </a:solidFill>
                <a:latin typeface="Aptos"/>
              </a:rPr>
              <a:t>Interest income + processing fee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1325880"/>
            <a:ext cx="224028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27832" y="1463039"/>
            <a:ext cx="19110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26F7D"/>
                </a:solidFill>
                <a:latin typeface="Aptos"/>
              </a:rPr>
              <a:t>COST OF FUNDS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1755648"/>
            <a:ext cx="19110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73E3E"/>
                </a:solidFill>
                <a:latin typeface="Aptos"/>
              </a:rPr>
              <a:t>₹3.52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7832" y="2221991"/>
            <a:ext cx="1911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26F7D"/>
                </a:solidFill>
                <a:latin typeface="Aptos"/>
              </a:rPr>
              <a:t>Funding cost alone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325880"/>
            <a:ext cx="224028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50992" y="1463039"/>
            <a:ext cx="19110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26F7D"/>
                </a:solidFill>
                <a:latin typeface="Aptos"/>
              </a:rPr>
              <a:t>DEFAULT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755648"/>
            <a:ext cx="19110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73E3E"/>
                </a:solidFill>
                <a:latin typeface="Aptos"/>
              </a:rPr>
              <a:t>₹15.86 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2221991"/>
            <a:ext cx="1911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26F7D"/>
                </a:solidFill>
                <a:latin typeface="Aptos"/>
              </a:rPr>
              <a:t>Additional credit loss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1325880"/>
            <a:ext cx="224028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74152" y="1463039"/>
            <a:ext cx="19110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26F7D"/>
                </a:solidFill>
                <a:latin typeface="Aptos"/>
              </a:rPr>
              <a:t>PROFIT MARGIN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1755648"/>
            <a:ext cx="19110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73E3E"/>
                </a:solidFill>
                <a:latin typeface="Aptos"/>
              </a:rPr>
              <a:t>−2.83%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2221991"/>
            <a:ext cx="1911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26F7D"/>
                </a:solidFill>
                <a:latin typeface="Aptos"/>
              </a:rPr>
              <a:t>Net profit / principal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971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7782"/>
                </a:solidFill>
                <a:latin typeface="Aptos"/>
              </a:rPr>
              <a:t>₹3.32 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36499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26F7D"/>
                </a:solidFill>
                <a:latin typeface="Aptos"/>
              </a:rPr>
              <a:t>Revenue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971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B73E3E"/>
                </a:solidFill>
                <a:latin typeface="Aptos"/>
              </a:rPr>
              <a:t>− ₹3.68 Cr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36499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26F7D"/>
                </a:solidFill>
                <a:latin typeface="Aptos"/>
              </a:rPr>
              <a:t>Total cost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263640" y="2944368"/>
            <a:ext cx="914400" cy="502920"/>
          </a:xfrm>
          <a:prstGeom prst="rightArrow">
            <a:avLst/>
          </a:prstGeom>
          <a:solidFill>
            <a:srgbClr val="BEC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0" y="2816352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B73E3E"/>
                </a:solidFill>
                <a:latin typeface="Aptos"/>
              </a:rPr>
              <a:t>− ₹36.05 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429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26F7D"/>
                </a:solidFill>
                <a:latin typeface="Aptos"/>
              </a:rPr>
              <a:t>Net bank loss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1028700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13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4379976"/>
            <a:ext cx="9921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3263F"/>
                </a:solidFill>
                <a:latin typeface="Aptos"/>
              </a:rPr>
              <a:t>BUSINESS IMPLICATION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727448"/>
            <a:ext cx="9921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Default recovery matters, but it cannot solve the core issue by itself. Funding cost is already above revenue, so management must improve loan-level economics through pricing and portfolio mix.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473952"/>
            <a:ext cx="11018520" cy="9144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F7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966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3263F"/>
                </a:solidFill>
                <a:latin typeface="Aptos Display"/>
              </a:rPr>
              <a:t>Product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626F7D"/>
                </a:solidFill>
                <a:latin typeface="Aptos"/>
              </a:rPr>
              <a:t>The portfolio is not uniformly weak — one segment is driving the outcome.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20624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26F7D"/>
                </a:solidFill>
              </a:rPr>
              <a:t>4</a:t>
            </a:r>
          </a:p>
        </p:txBody>
      </p:sp>
      <p:pic>
        <p:nvPicPr>
          <p:cNvPr id="7" name="Picture 6" descr="product_pro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70" y="1234440"/>
            <a:ext cx="6730730" cy="46451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60920" y="1417320"/>
            <a:ext cx="379476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B7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43800" y="15453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73E3E"/>
                </a:solidFill>
                <a:latin typeface="Aptos"/>
              </a:rPr>
              <a:t>PRIMARY LOSS DRIVER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1892808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Car: −₹37.41 lakh. It is large enough to erase the gains from Laptop and Bike.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2834640"/>
            <a:ext cx="379476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2F7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43800" y="296265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4"/>
                </a:solidFill>
                <a:latin typeface="Aptos"/>
              </a:rPr>
              <a:t>PROFITABLE POCKETS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310128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Laptop: +₹1.64 lakh
Bike: +₹0.46 lakh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4251960"/>
            <a:ext cx="379476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1F7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43800" y="437997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7782"/>
                </a:solidFill>
                <a:latin typeface="Aptos"/>
              </a:rPr>
              <a:t>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4727448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Do not apply a portfolio-wide restriction. Review Car separately and preserve the economics of profitable products.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473952"/>
            <a:ext cx="11018520" cy="9144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F7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966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3263F"/>
                </a:solidFill>
                <a:latin typeface="Aptos Display"/>
              </a:rPr>
              <a:t>Pricing Is a Core Driver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626F7D"/>
                </a:solidFill>
                <a:latin typeface="Aptos"/>
              </a:rPr>
              <a:t>Lower-rate lending is where the economics deteriorate fastest.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20624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26F7D"/>
                </a:solidFill>
              </a:rPr>
              <a:t>5</a:t>
            </a:r>
          </a:p>
        </p:txBody>
      </p:sp>
      <p:pic>
        <p:nvPicPr>
          <p:cNvPr id="7" name="Picture 6" descr="rate_pro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40080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371600"/>
            <a:ext cx="3886200" cy="1325880"/>
          </a:xfrm>
          <a:prstGeom prst="roundRect">
            <a:avLst/>
          </a:prstGeom>
          <a:solidFill>
            <a:srgbClr val="F3F6F9"/>
          </a:solidFill>
          <a:ln>
            <a:solidFill>
              <a:srgbClr val="B7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52360" y="149961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73E3E"/>
                </a:solidFill>
                <a:latin typeface="Aptos"/>
              </a:rPr>
              <a:t>LOW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847088"/>
            <a:ext cx="3520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−₹26.69 lakh
Largest rate-segment loss.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2880360"/>
            <a:ext cx="3886200" cy="1325880"/>
          </a:xfrm>
          <a:prstGeom prst="roundRect">
            <a:avLst/>
          </a:prstGeom>
          <a:solidFill>
            <a:srgbClr val="F3F6F9"/>
          </a:solidFill>
          <a:ln>
            <a:solidFill>
              <a:srgbClr val="B7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52360" y="300837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73E3E"/>
                </a:solidFill>
                <a:latin typeface="Aptos"/>
              </a:rPr>
              <a:t>MEDIUM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3355848"/>
            <a:ext cx="3520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−₹11.85 lakh
Still below an acceptable return.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4389120"/>
            <a:ext cx="388620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1F7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52360" y="451713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7782"/>
                </a:solidFill>
                <a:latin typeface="Aptos"/>
              </a:rPr>
              <a:t>MANAGEMENT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864608"/>
            <a:ext cx="3520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Introduce a pricing floor based on funding cost and expected loss — not a blanket rate increase.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473952"/>
            <a:ext cx="11018520" cy="9144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F7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966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3263F"/>
                </a:solidFill>
                <a:latin typeface="Aptos Display"/>
              </a:rPr>
              <a:t>Pinpointing the Pricing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626F7D"/>
                </a:solidFill>
                <a:latin typeface="Aptos"/>
              </a:rPr>
              <a:t>The rate issue is concentrated — especially inside Car lending.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20624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26F7D"/>
                </a:solidFill>
              </a:rPr>
              <a:t>6</a:t>
            </a:r>
          </a:p>
        </p:txBody>
      </p:sp>
      <p:pic>
        <p:nvPicPr>
          <p:cNvPr id="7" name="Picture 6" descr="product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6995160" cy="4526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325880"/>
            <a:ext cx="3520440" cy="1280160"/>
          </a:xfrm>
          <a:prstGeom prst="roundRect">
            <a:avLst/>
          </a:prstGeom>
          <a:solidFill>
            <a:srgbClr val="F3F6F9"/>
          </a:solidFill>
          <a:ln>
            <a:solidFill>
              <a:srgbClr val="B7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59" y="1453895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73E3E"/>
                </a:solidFill>
                <a:latin typeface="Aptos"/>
              </a:rPr>
              <a:t>CAR + LOW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59" y="1801368"/>
            <a:ext cx="315468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−₹26.69 lakh
Largest product-rate loss.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2788920"/>
            <a:ext cx="3520440" cy="1280160"/>
          </a:xfrm>
          <a:prstGeom prst="roundRect">
            <a:avLst/>
          </a:prstGeom>
          <a:solidFill>
            <a:srgbClr val="F3F6F9"/>
          </a:solidFill>
          <a:ln>
            <a:solidFill>
              <a:srgbClr val="B7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09559" y="2916936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73E3E"/>
                </a:solidFill>
                <a:latin typeface="Aptos"/>
              </a:rPr>
              <a:t>CAR + MEDIUM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59" y="3264408"/>
            <a:ext cx="315468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−₹10.72 lakh
Second major loss pocket.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4251960"/>
            <a:ext cx="3520440" cy="1280160"/>
          </a:xfrm>
          <a:prstGeom prst="roundRect">
            <a:avLst/>
          </a:prstGeom>
          <a:solidFill>
            <a:srgbClr val="F3F6F9"/>
          </a:solidFill>
          <a:ln>
            <a:solidFill>
              <a:srgbClr val="1F7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59" y="4379976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7782"/>
                </a:solidFill>
                <a:latin typeface="Aptos"/>
              </a:rPr>
              <a:t>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59" y="4727448"/>
            <a:ext cx="315468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Target Car pricing and approval rules first. Avoid unnecessary repricing of products already generating positive returns.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473952"/>
            <a:ext cx="11018520" cy="9144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F7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966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3263F"/>
                </a:solidFill>
                <a:latin typeface="Aptos Display"/>
              </a:rPr>
              <a:t>Tenure Is Amplifying the Car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626F7D"/>
                </a:solidFill>
                <a:latin typeface="Aptos"/>
              </a:rPr>
              <a:t>Longer duration is particularly damaging when pricing is not high enough.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20624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26F7D"/>
                </a:solidFill>
              </a:rPr>
              <a:t>7</a:t>
            </a:r>
          </a:p>
        </p:txBody>
      </p:sp>
      <p:pic>
        <p:nvPicPr>
          <p:cNvPr id="7" name="Picture 6" descr="ten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6995160" cy="4526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325880"/>
            <a:ext cx="3520440" cy="1280160"/>
          </a:xfrm>
          <a:prstGeom prst="roundRect">
            <a:avLst/>
          </a:prstGeom>
          <a:solidFill>
            <a:srgbClr val="F3F6F9"/>
          </a:solidFill>
          <a:ln>
            <a:solidFill>
              <a:srgbClr val="B7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59" y="1453895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73E3E"/>
                </a:solidFill>
                <a:latin typeface="Aptos"/>
              </a:rPr>
              <a:t>CAR + LONG 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59" y="1801368"/>
            <a:ext cx="315468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−₹33.82 lakh
Dominant tenure-related loss.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2788920"/>
            <a:ext cx="3520440" cy="1280160"/>
          </a:xfrm>
          <a:prstGeom prst="roundRect">
            <a:avLst/>
          </a:prstGeom>
          <a:solidFill>
            <a:srgbClr val="F3F6F9"/>
          </a:solidFill>
          <a:ln>
            <a:solidFill>
              <a:srgbClr val="13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09559" y="2916936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3263F"/>
                </a:solidFill>
                <a:latin typeface="Aptos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59" y="3264408"/>
            <a:ext cx="315468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Longer tenure keeps capital committed longer. If the rate does not compensate for funding and risk, return is diluted.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4251960"/>
            <a:ext cx="3520440" cy="1280160"/>
          </a:xfrm>
          <a:prstGeom prst="roundRect">
            <a:avLst/>
          </a:prstGeom>
          <a:solidFill>
            <a:srgbClr val="F3F6F9"/>
          </a:solidFill>
          <a:ln>
            <a:solidFill>
              <a:srgbClr val="1F7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59" y="4379976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7782"/>
                </a:solidFill>
                <a:latin typeface="Aptos"/>
              </a:rPr>
              <a:t>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59" y="4727448"/>
            <a:ext cx="315468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Review maximum Car tenure or apply additional pricing to longer-term loans.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473952"/>
            <a:ext cx="11018520" cy="9144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F7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966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3263F"/>
                </a:solidFill>
                <a:latin typeface="Aptos Display"/>
              </a:rPr>
              <a:t>The Loss Is Not a Single-Region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626F7D"/>
                </a:solidFill>
                <a:latin typeface="Aptos"/>
              </a:rPr>
              <a:t>Every region is loss-making; geography alone is not the root cause.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20624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26F7D"/>
                </a:solidFill>
              </a:rPr>
              <a:t>8</a:t>
            </a:r>
          </a:p>
        </p:txBody>
      </p:sp>
      <p:pic>
        <p:nvPicPr>
          <p:cNvPr id="7" name="Picture 6" descr="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49224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60920" y="1371600"/>
            <a:ext cx="379476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B7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43800" y="14996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73E3E"/>
                </a:solidFill>
                <a:latin typeface="Aptos"/>
              </a:rPr>
              <a:t>LARGEST REGIONAL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1847088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East: −₹11.72 lakh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2788920"/>
            <a:ext cx="379476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13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43800" y="29169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3263F"/>
                </a:solidFill>
                <a:latin typeface="Aptos"/>
              </a:rPr>
              <a:t>WHAT NOT TO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264408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Do not simply withdraw from the weakest region. That could remove volume without fixing the economics.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4206240"/>
            <a:ext cx="3794760" cy="1325880"/>
          </a:xfrm>
          <a:prstGeom prst="roundRect">
            <a:avLst/>
          </a:prstGeom>
          <a:solidFill>
            <a:srgbClr val="F3F6F9"/>
          </a:solidFill>
          <a:ln>
            <a:solidFill>
              <a:srgbClr val="1F7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43800" y="4334255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7782"/>
                </a:solidFill>
                <a:latin typeface="Aptos"/>
              </a:rPr>
              <a:t>BETTER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4681727"/>
            <a:ext cx="342900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Break each region down by product, rate and tenure before changing geographic policy.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473952"/>
            <a:ext cx="11018520" cy="9144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F7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966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3263F"/>
                </a:solidFill>
                <a:latin typeface="Aptos Display"/>
              </a:rPr>
              <a:t>Exposure Concentration Adds Another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626F7D"/>
                </a:solidFill>
                <a:latin typeface="Aptos"/>
              </a:rPr>
              <a:t>Very-large loans are creating a disproportionate share of the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20624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26F7D"/>
                </a:solidFill>
              </a:rPr>
              <a:t>9</a:t>
            </a:r>
          </a:p>
        </p:txBody>
      </p:sp>
      <p:pic>
        <p:nvPicPr>
          <p:cNvPr id="7" name="Picture 6" descr="loan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49224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60920" y="1371600"/>
            <a:ext cx="3794760" cy="1325880"/>
          </a:xfrm>
          <a:prstGeom prst="roundRect">
            <a:avLst/>
          </a:prstGeom>
          <a:solidFill>
            <a:srgbClr val="F3F6F9"/>
          </a:solidFill>
          <a:ln>
            <a:solidFill>
              <a:srgbClr val="B7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43800" y="14996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73E3E"/>
                </a:solidFill>
                <a:latin typeface="Aptos"/>
              </a:rPr>
              <a:t>VERY-LARGE EXPOSURES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1847088"/>
            <a:ext cx="342900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−₹33.88 lakh across 100 loans.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2926080"/>
            <a:ext cx="3794760" cy="1234440"/>
          </a:xfrm>
          <a:prstGeom prst="roundRect">
            <a:avLst/>
          </a:prstGeom>
          <a:solidFill>
            <a:srgbClr val="F3F6F9"/>
          </a:solidFill>
          <a:ln>
            <a:solidFill>
              <a:srgbClr val="13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43800" y="305409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3263F"/>
                </a:solidFill>
                <a:latin typeface="Aptos"/>
              </a:rPr>
              <a:t>BUSINESS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01568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A small number of large exposures can create concentrated downside when pricing or credit assumptions are weak.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4343400"/>
            <a:ext cx="3794760" cy="1188720"/>
          </a:xfrm>
          <a:prstGeom prst="roundRect">
            <a:avLst/>
          </a:prstGeom>
          <a:solidFill>
            <a:srgbClr val="F3F6F9"/>
          </a:solidFill>
          <a:ln>
            <a:solidFill>
              <a:srgbClr val="1F7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43800" y="44714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7782"/>
                </a:solidFill>
                <a:latin typeface="Aptos"/>
              </a:rPr>
              <a:t>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4818888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62D"/>
                </a:solidFill>
                <a:latin typeface="Aptos"/>
              </a:rPr>
              <a:t>Use stronger approval, exposure limits and expected-return checks for very-large loans.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473952"/>
            <a:ext cx="11018520" cy="9144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F7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966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3263F"/>
                </a:solidFill>
                <a:latin typeface="Aptos Display"/>
              </a:rPr>
              <a:t>Management Action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626F7D"/>
                </a:solidFill>
                <a:latin typeface="Aptos"/>
              </a:rPr>
              <a:t>Prioritise changes that improve unit economics without damaging healthy segments.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20624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26F7D"/>
                </a:solidFill>
              </a:rPr>
              <a:t>10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325880"/>
            <a:ext cx="384048" cy="384048"/>
          </a:xfrm>
          <a:prstGeom prst="ellipse">
            <a:avLst/>
          </a:prstGeom>
          <a:solidFill>
            <a:srgbClr val="13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16736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3263F"/>
                </a:solidFill>
                <a:latin typeface="Aptos"/>
              </a:rPr>
              <a:t>Fix Car-loan economics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1316736"/>
            <a:ext cx="5074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20262D"/>
                </a:solidFill>
                <a:latin typeface="Aptos"/>
              </a:rPr>
              <a:t>Review pricing, tenure, loan size, funding cost and expected loss together.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148840"/>
            <a:ext cx="384048" cy="384048"/>
          </a:xfrm>
          <a:prstGeom prst="ellipse">
            <a:avLst/>
          </a:prstGeom>
          <a:solidFill>
            <a:srgbClr val="13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176272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139696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3263F"/>
                </a:solidFill>
                <a:latin typeface="Aptos"/>
              </a:rPr>
              <a:t>Set a pricing floor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139696"/>
            <a:ext cx="56327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20262D"/>
                </a:solidFill>
                <a:latin typeface="Aptos"/>
              </a:rPr>
              <a:t>Approve low-rate loans only when expected return remains economically viable.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2971800"/>
            <a:ext cx="384048" cy="384048"/>
          </a:xfrm>
          <a:prstGeom prst="ellipse">
            <a:avLst/>
          </a:prstGeom>
          <a:solidFill>
            <a:srgbClr val="13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999232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962656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3263F"/>
                </a:solidFill>
                <a:latin typeface="Aptos"/>
              </a:rPr>
              <a:t>Control long-term Car lending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962656"/>
            <a:ext cx="5074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20262D"/>
                </a:solidFill>
                <a:latin typeface="Aptos"/>
              </a:rPr>
              <a:t>Shorten maximum tenure or add risk/tenure-based pricing.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3794760"/>
            <a:ext cx="384048" cy="384048"/>
          </a:xfrm>
          <a:prstGeom prst="ellipse">
            <a:avLst/>
          </a:prstGeom>
          <a:solidFill>
            <a:srgbClr val="13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3822192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785616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3263F"/>
                </a:solidFill>
                <a:latin typeface="Aptos"/>
              </a:rPr>
              <a:t>Control large exposures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785616"/>
            <a:ext cx="6035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20262D"/>
                </a:solidFill>
                <a:latin typeface="Aptos"/>
              </a:rPr>
              <a:t>Strengthen approval and exposure limits where loss concentration is high.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4617720"/>
            <a:ext cx="384048" cy="384048"/>
          </a:xfrm>
          <a:prstGeom prst="ellipse">
            <a:avLst/>
          </a:prstGeom>
          <a:solidFill>
            <a:srgbClr val="13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645152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608576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3263F"/>
                </a:solidFill>
                <a:latin typeface="Aptos"/>
              </a:rPr>
              <a:t>Protect profitable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4608576"/>
            <a:ext cx="5074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20262D"/>
                </a:solidFill>
                <a:latin typeface="Aptos"/>
              </a:rPr>
              <a:t>Laptop and Bike are positive contributors; pursue controlled growth.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5440680"/>
            <a:ext cx="384048" cy="384048"/>
          </a:xfrm>
          <a:prstGeom prst="ellipse">
            <a:avLst/>
          </a:prstGeom>
          <a:solidFill>
            <a:srgbClr val="13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5468112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431536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13263F"/>
                </a:solidFill>
                <a:latin typeface="Aptos"/>
              </a:rPr>
              <a:t>Review regional mix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5431536"/>
            <a:ext cx="56327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20262D"/>
                </a:solidFill>
                <a:latin typeface="Aptos"/>
              </a:rPr>
              <a:t>Start with East, but diagnose product/rate/tenure mix before changing geography.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73952"/>
            <a:ext cx="11018520" cy="9144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840480" y="-4114800"/>
            <a:ext cx="5303520" cy="5303520"/>
          </a:xfrm>
          <a:prstGeom prst="ellipse">
            <a:avLst/>
          </a:prstGeom>
          <a:solidFill>
            <a:srgbClr val="18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241280" y="3566159"/>
            <a:ext cx="4937760" cy="4937760"/>
          </a:xfrm>
          <a:prstGeom prst="ellipse">
            <a:avLst/>
          </a:prstGeom>
          <a:solidFill>
            <a:srgbClr val="18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698480" y="3749039"/>
            <a:ext cx="2743200" cy="2743200"/>
          </a:xfrm>
          <a:prstGeom prst="ellipse">
            <a:avLst/>
          </a:prstGeom>
          <a:solidFill>
            <a:srgbClr val="1B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220">
                <a:solidFill>
                  <a:srgbClr val="6FB8C2"/>
                </a:solidFill>
                <a:latin typeface="Calibri"/>
              </a:rPr>
              <a:t>THE MANAGEMENT MESSAGE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95528" y="914400"/>
            <a:ext cx="1371600" cy="0"/>
          </a:xfrm>
          <a:prstGeom prst="line">
            <a:avLst/>
          </a:prstGeom>
          <a:ln w="31750">
            <a:solidFill>
              <a:srgbClr val="1F77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58952" y="1097280"/>
            <a:ext cx="1060704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Loan growth is not the objective.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6FB8C2"/>
                </a:solidFill>
                <a:latin typeface="Cambria"/>
              </a:rPr>
              <a:t>Profitable loan growth 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9875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0">
                <a:solidFill>
                  <a:srgbClr val="DDE5EB"/>
                </a:solidFill>
                <a:latin typeface="Calibri"/>
              </a:rPr>
              <a:t>The analysis points to one practical starting point: fix the economics of Car loans — especially lower-rate, longer-tenure lending — while protecting profitable segments.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977639"/>
            <a:ext cx="3310128" cy="1481328"/>
          </a:xfrm>
          <a:prstGeom prst="roundRect">
            <a:avLst>
              <a:gd name="adj" fmla="val 7500"/>
            </a:avLst>
          </a:prstGeom>
          <a:solidFill>
            <a:srgbClr val="1F354F"/>
          </a:solidFill>
          <a:ln w="15875">
            <a:solidFill>
              <a:srgbClr val="1F77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6695" y="4197096"/>
            <a:ext cx="420624" cy="420624"/>
          </a:xfrm>
          <a:prstGeom prst="ellipse">
            <a:avLst/>
          </a:prstGeom>
          <a:solidFill>
            <a:srgbClr val="1F7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4233672"/>
            <a:ext cx="23500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10">
                <a:solidFill>
                  <a:srgbClr val="9DBECD"/>
                </a:solidFill>
                <a:latin typeface="Calibri"/>
              </a:rPr>
              <a:t>START WITH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4581144"/>
            <a:ext cx="287121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Car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5001768"/>
            <a:ext cx="287121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AFBCC8"/>
                </a:solidFill>
                <a:latin typeface="Calibri"/>
              </a:rPr>
              <a:t>Rate, tenure &amp; loan-size rules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977639"/>
            <a:ext cx="3310128" cy="1481328"/>
          </a:xfrm>
          <a:prstGeom prst="roundRect">
            <a:avLst>
              <a:gd name="adj" fmla="val 7500"/>
            </a:avLst>
          </a:prstGeom>
          <a:solidFill>
            <a:srgbClr val="1F354F"/>
          </a:solidFill>
          <a:ln w="15875">
            <a:solidFill>
              <a:srgbClr val="BD91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562856" y="4197096"/>
            <a:ext cx="420624" cy="420624"/>
          </a:xfrm>
          <a:prstGeom prst="ellipse">
            <a:avLst/>
          </a:prstGeom>
          <a:solidFill>
            <a:srgbClr val="BD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8072" y="4233672"/>
            <a:ext cx="23500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10">
                <a:solidFill>
                  <a:srgbClr val="9DBECD"/>
                </a:solidFill>
                <a:latin typeface="Calibri"/>
              </a:rPr>
              <a:t>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581144"/>
            <a:ext cx="287121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Pricing + Tenure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5001768"/>
            <a:ext cx="287121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AFBCC8"/>
                </a:solidFill>
                <a:latin typeface="Calibri"/>
              </a:rPr>
              <a:t>Set a practical minimum floor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3977639"/>
            <a:ext cx="3310128" cy="1481328"/>
          </a:xfrm>
          <a:prstGeom prst="roundRect">
            <a:avLst>
              <a:gd name="adj" fmla="val 7500"/>
            </a:avLst>
          </a:prstGeom>
          <a:solidFill>
            <a:srgbClr val="1F354F"/>
          </a:solidFill>
          <a:ln w="15875">
            <a:solidFill>
              <a:srgbClr val="2F7D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129016" y="4197096"/>
            <a:ext cx="420624" cy="420624"/>
          </a:xfrm>
          <a:prstGeom prst="ellipse">
            <a:avLst/>
          </a:prstGeom>
          <a:solidFill>
            <a:srgbClr val="2F7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4232" y="4233672"/>
            <a:ext cx="23500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10">
                <a:solidFill>
                  <a:srgbClr val="9DBECD"/>
                </a:solidFill>
                <a:latin typeface="Calibri"/>
              </a:rPr>
              <a:t>PROTECT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4581144"/>
            <a:ext cx="287121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Profitable Mix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5001768"/>
            <a:ext cx="287121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AFBCC8"/>
                </a:solidFill>
                <a:latin typeface="Calibri"/>
              </a:rPr>
              <a:t>Grow Laptop &amp; Bike carefully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7240" y="6053328"/>
            <a:ext cx="10634472" cy="0"/>
          </a:xfrm>
          <a:prstGeom prst="line">
            <a:avLst/>
          </a:prstGeom>
          <a:ln w="9525">
            <a:solidFill>
              <a:srgbClr val="2A3F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863</Words>
  <Application>Microsoft Office PowerPoint</Application>
  <PresentationFormat>Widescreen</PresentationFormat>
  <Paragraphs>148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Tufan Bera</cp:lastModifiedBy>
  <cp:revision>3</cp:revision>
  <dcterms:created xsi:type="dcterms:W3CDTF">2013-01-27T09:14:16Z</dcterms:created>
  <dcterms:modified xsi:type="dcterms:W3CDTF">2026-08-30T18:31:03Z</dcterms:modified>
  <cp:category/>
</cp:coreProperties>
</file>